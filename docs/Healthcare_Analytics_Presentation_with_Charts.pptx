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Osama Elkassas" userId="9e17d65e-e231-4d71-8187-982259f9f7d1" providerId="ADAL" clId="{D7A72787-2A1C-4B9E-BEEA-E6F48EB8C45A}"/>
    <pc:docChg chg="modSld">
      <pc:chgData name="Mohamed Osama Elkassas" userId="9e17d65e-e231-4d71-8187-982259f9f7d1" providerId="ADAL" clId="{D7A72787-2A1C-4B9E-BEEA-E6F48EB8C45A}" dt="2026-05-17T01:05:12.693" v="5" actId="14100"/>
      <pc:docMkLst>
        <pc:docMk/>
      </pc:docMkLst>
      <pc:sldChg chg="modSp mod">
        <pc:chgData name="Mohamed Osama Elkassas" userId="9e17d65e-e231-4d71-8187-982259f9f7d1" providerId="ADAL" clId="{D7A72787-2A1C-4B9E-BEEA-E6F48EB8C45A}" dt="2026-05-17T01:05:12.693" v="5" actId="14100"/>
        <pc:sldMkLst>
          <pc:docMk/>
          <pc:sldMk cId="0" sldId="262"/>
        </pc:sldMkLst>
        <pc:spChg chg="mod">
          <ac:chgData name="Mohamed Osama Elkassas" userId="9e17d65e-e231-4d71-8187-982259f9f7d1" providerId="ADAL" clId="{D7A72787-2A1C-4B9E-BEEA-E6F48EB8C45A}" dt="2026-05-17T01:05:12.693" v="5" actId="14100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4:59.543" v="3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ohamed Osama Elkassas" userId="9e17d65e-e231-4d71-8187-982259f9f7d1" providerId="ADAL" clId="{D7A72787-2A1C-4B9E-BEEA-E6F48EB8C45A}" dt="2026-05-17T01:05:08.401" v="4" actId="14100"/>
          <ac:spMkLst>
            <pc:docMk/>
            <pc:sldMk cId="0" sldId="262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Real-Time Healthcare Adverse Event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6E4F7"/>
                </a:solidFill>
              </a:rPr>
              <a:t>using Big Data Streaming and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</a:rPr>
              <a:t>Khaled Mohamed </a:t>
            </a:r>
            <a:r>
              <a:rPr sz="2000" b="1" i="0" dirty="0">
                <a:solidFill>
                  <a:srgbClr val="FFFFFF"/>
                </a:solidFill>
              </a:rPr>
              <a:t>•  </a:t>
            </a:r>
            <a:r>
              <a:rPr lang="en-US" sz="2000" b="1" i="0" dirty="0">
                <a:solidFill>
                  <a:srgbClr val="FFFFFF"/>
                </a:solidFill>
              </a:rPr>
              <a:t>Mohamed </a:t>
            </a:r>
            <a:r>
              <a:rPr lang="en-US" sz="2000" b="1" i="0" dirty="0" err="1">
                <a:solidFill>
                  <a:srgbClr val="FFFFFF"/>
                </a:solidFill>
              </a:rPr>
              <a:t>ElKassas</a:t>
            </a:r>
            <a:r>
              <a:rPr lang="en-US" sz="2000" b="1" dirty="0">
                <a:solidFill>
                  <a:srgbClr val="FFFFFF"/>
                </a:solidFill>
              </a:rPr>
              <a:t> • Youssef Hassan • Mustafa Tantawy 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CSCI461 — Introduction to Big Data   |   Spring 2026   |   Nile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5A623"/>
                </a:solidFill>
              </a:rPr>
              <a:t>Apache Kafka  ·  HDFS  ·  Spark MLlib  ·  PostgreSQL  ·  Metabase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86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24545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Why does real-time pharmacovigilance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107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FDA receives millions of spontaneous adverse-event reports each year via MedWatch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Traditional pipelines are batch-oriented — reports analysed offline with significant latency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Delayed detection of drug safety signals can cost lives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No open-source, self-contained, end-to-end reference pipeline exists for course-level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2120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A1A2E"/>
                </a:solidFill>
              </a:rPr>
              <a:t>• Ingest </a:t>
            </a:r>
            <a:r>
              <a:rPr sz="1400" dirty="0" err="1">
                <a:solidFill>
                  <a:srgbClr val="1A1A2E"/>
                </a:solidFill>
              </a:rPr>
              <a:t>openFDA</a:t>
            </a:r>
            <a:r>
              <a:rPr sz="1400" dirty="0">
                <a:solidFill>
                  <a:srgbClr val="1A1A2E"/>
                </a:solidFill>
              </a:rPr>
              <a:t> Drug Adverse Event records in near real-time via Apache Kafka</a:t>
            </a:r>
          </a:p>
          <a:p>
            <a:pPr algn="l"/>
            <a:r>
              <a:rPr sz="1400" dirty="0">
                <a:solidFill>
                  <a:srgbClr val="1A1A2E"/>
                </a:solidFill>
              </a:rPr>
              <a:t>• Store raw + cleaned data in HDFS (bronze-silver-gold architecture)</a:t>
            </a:r>
          </a:p>
          <a:p>
            <a:pPr algn="l"/>
            <a:r>
              <a:rPr sz="1400" dirty="0">
                <a:solidFill>
                  <a:srgbClr val="1A1A2E"/>
                </a:solidFill>
              </a:rPr>
              <a:t>• Apply Spark </a:t>
            </a:r>
            <a:r>
              <a:rPr sz="1400" dirty="0" err="1">
                <a:solidFill>
                  <a:srgbClr val="1A1A2E"/>
                </a:solidFill>
              </a:rPr>
              <a:t>MLlib</a:t>
            </a:r>
            <a:r>
              <a:rPr sz="1400" dirty="0">
                <a:solidFill>
                  <a:srgbClr val="1A1A2E"/>
                </a:solidFill>
              </a:rPr>
              <a:t> risk classification to 7,573+ records</a:t>
            </a:r>
          </a:p>
          <a:p>
            <a:pPr algn="l"/>
            <a:r>
              <a:rPr sz="1400" dirty="0">
                <a:solidFill>
                  <a:srgbClr val="1A1A2E"/>
                </a:solidFill>
              </a:rPr>
              <a:t>• Surface insights via PostgreSQL + </a:t>
            </a:r>
            <a:r>
              <a:rPr sz="1400" dirty="0" err="1">
                <a:solidFill>
                  <a:srgbClr val="1A1A2E"/>
                </a:solidFill>
              </a:rPr>
              <a:t>Metabase</a:t>
            </a:r>
            <a:r>
              <a:rPr sz="1400" dirty="0">
                <a:solidFill>
                  <a:srgbClr val="1A1A2E"/>
                </a:solidFill>
              </a:rPr>
              <a:t> dashboards</a:t>
            </a:r>
          </a:p>
          <a:p>
            <a:pPr algn="l"/>
            <a:r>
              <a:rPr sz="1400" dirty="0">
                <a:solidFill>
                  <a:srgbClr val="1A1A2E"/>
                </a:solidFill>
              </a:rPr>
              <a:t>• Fully </a:t>
            </a:r>
            <a:r>
              <a:rPr sz="1400" dirty="0" err="1">
                <a:solidFill>
                  <a:srgbClr val="1A1A2E"/>
                </a:solidFill>
              </a:rPr>
              <a:t>containerised</a:t>
            </a:r>
            <a:r>
              <a:rPr sz="1400" dirty="0">
                <a:solidFill>
                  <a:srgbClr val="1A1A2E"/>
                </a:solidFill>
              </a:rPr>
              <a:t> — runs with a single docker compose up</a:t>
            </a:r>
            <a:endParaRPr lang="en-US" sz="1400" dirty="0">
              <a:solidFill>
                <a:srgbClr val="1A1A2E"/>
              </a:solidFill>
            </a:endParaRPr>
          </a:p>
          <a:p>
            <a:pPr algn="l"/>
            <a:endParaRPr lang="en-US" sz="1400" dirty="0">
              <a:solidFill>
                <a:srgbClr val="1A1A2E"/>
              </a:solidFill>
            </a:endParaRPr>
          </a:p>
          <a:p>
            <a:pPr algn="l"/>
            <a:endParaRPr lang="en-US" sz="1400" dirty="0">
              <a:solidFill>
                <a:srgbClr val="1A1A2E"/>
              </a:solidFill>
            </a:endParaRPr>
          </a:p>
          <a:p>
            <a:pPr algn="l"/>
            <a:endParaRPr lang="en-US" sz="1400" dirty="0">
              <a:solidFill>
                <a:srgbClr val="1A1A2E"/>
              </a:solidFill>
            </a:endParaRPr>
          </a:p>
          <a:p>
            <a:pPr algn="ctr"/>
            <a:r>
              <a:rPr lang="en-US" sz="1400" dirty="0">
                <a:solidFill>
                  <a:srgbClr val="1A1A2E"/>
                </a:solidFill>
              </a:rPr>
              <a:t>Top 10 reported reactions bar chart</a:t>
            </a:r>
            <a:endParaRPr sz="1400" dirty="0">
              <a:solidFill>
                <a:srgbClr val="1A1A2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10</a:t>
            </a:r>
          </a:p>
        </p:txBody>
      </p:sp>
      <p:pic>
        <p:nvPicPr>
          <p:cNvPr id="105" name="TopReac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497072"/>
            <a:ext cx="5434330" cy="27665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61CF60-AEE9-5925-8C90-02798D2FB0FF}"/>
              </a:ext>
            </a:extLst>
          </p:cNvPr>
          <p:cNvSpPr txBox="1"/>
          <p:nvPr/>
        </p:nvSpPr>
        <p:spPr>
          <a:xfrm>
            <a:off x="7385421" y="3715381"/>
            <a:ext cx="498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 10 reported reactions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927" y="72237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5A623"/>
                </a:solidFill>
              </a:rPr>
              <a:t>SMART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79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Stream &gt;7,500 FDA adverse-event records through Kafka within a single ingest session using the openFDA REST API.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23444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45936" y="1325880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2984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80136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Implement a bronze-silver-gold HDFS data lakehouse with automated Spark Structured Streaming cleaning and deduplication.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79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Train and evaluate Logistic Regression and Random Forest models (+ rule-based baseline) achieving ≥0.85 weighted F1 on risk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3886200"/>
            <a:ext cx="5577840" cy="2423160"/>
          </a:xfrm>
          <a:prstGeom prst="rect">
            <a:avLst/>
          </a:prstGeom>
          <a:solidFill>
            <a:srgbClr val="EEF4FD"/>
          </a:solidFill>
          <a:ln w="1524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45936" y="3977639"/>
            <a:ext cx="411480" cy="4114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3B6E"/>
                </a:solidFill>
              </a:rPr>
              <a:t>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453128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Aggregate and visualise risk predictions by patient sex and medicinal product in a self-service Metabase dashboard.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21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symptoms analysis bar chart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openFDA Drug Adverse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Publicly accessible, continuously updated safety reports since 1969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209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Dataset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dirty="0">
                <a:solidFill>
                  <a:srgbClr val="1A1A2E"/>
                </a:solidFill>
              </a:rPr>
              <a:t>• Source: FDA MedWatch spontaneous safety report database</a:t>
            </a:r>
          </a:p>
          <a:p>
            <a:pPr algn="l"/>
            <a:r>
              <a:rPr sz="1350" dirty="0">
                <a:solidFill>
                  <a:srgbClr val="1A1A2E"/>
                </a:solidFill>
              </a:rPr>
              <a:t>• Access: </a:t>
            </a:r>
            <a:r>
              <a:rPr sz="1350" dirty="0" err="1">
                <a:solidFill>
                  <a:srgbClr val="1A1A2E"/>
                </a:solidFill>
              </a:rPr>
              <a:t>openFDA</a:t>
            </a:r>
            <a:r>
              <a:rPr sz="1350" dirty="0">
                <a:solidFill>
                  <a:srgbClr val="1A1A2E"/>
                </a:solidFill>
              </a:rPr>
              <a:t> drug/event REST API (no key required)</a:t>
            </a:r>
          </a:p>
          <a:p>
            <a:pPr algn="l"/>
            <a:r>
              <a:rPr sz="1350" dirty="0">
                <a:solidFill>
                  <a:srgbClr val="1A1A2E"/>
                </a:solidFill>
              </a:rPr>
              <a:t>• Format: Nested JSON → Parquet after ingestion</a:t>
            </a:r>
          </a:p>
          <a:p>
            <a:pPr algn="l"/>
            <a:r>
              <a:rPr sz="1350" dirty="0">
                <a:solidFill>
                  <a:srgbClr val="1A1A2E"/>
                </a:solidFill>
              </a:rPr>
              <a:t>• Records processed: 7,573 unique adverse event reports</a:t>
            </a:r>
          </a:p>
          <a:p>
            <a:pPr algn="l"/>
            <a:r>
              <a:rPr sz="1350" dirty="0">
                <a:solidFill>
                  <a:srgbClr val="1A1A2E"/>
                </a:solidFill>
              </a:rPr>
              <a:t>• Fields used: patient age, weight, sex; drug name; reaction MedDRA term; seriousness flags (death, </a:t>
            </a:r>
            <a:r>
              <a:rPr sz="1350" dirty="0" err="1">
                <a:solidFill>
                  <a:srgbClr val="1A1A2E"/>
                </a:solidFill>
              </a:rPr>
              <a:t>hospitalisation</a:t>
            </a:r>
            <a:r>
              <a:rPr sz="1350" dirty="0">
                <a:solidFill>
                  <a:srgbClr val="1A1A2E"/>
                </a:solidFill>
              </a:rPr>
              <a:t>); receipt date</a:t>
            </a:r>
          </a:p>
          <a:p>
            <a:pPr algn="l"/>
            <a:r>
              <a:rPr sz="1350" dirty="0">
                <a:solidFill>
                  <a:srgbClr val="1A1A2E"/>
                </a:solidFill>
              </a:rPr>
              <a:t>• License: Public domain (US government open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Data Quality After Phase 2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210312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837943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783080"/>
            <a:ext cx="21945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837943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200" y="1783080"/>
            <a:ext cx="822960" cy="53035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1837943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13432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2368296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JSON parse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2313432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36829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Bad records routed to bad_records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44200" y="2313432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2368296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~3–5%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843784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2898648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843784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289864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44200" y="2843784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0" y="2898648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74135"/>
            <a:ext cx="2103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59" y="3428999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Patient weight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374135"/>
            <a:ext cx="21945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428999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Null values → median imputed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44200" y="3374135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3428999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04487"/>
            <a:ext cx="210312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59" y="3959351"/>
            <a:ext cx="20116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</a:rPr>
              <a:t>Duplicate report IDs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04487"/>
            <a:ext cx="21945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3959351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Within single ingest cycle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3904487"/>
            <a:ext cx="822960" cy="530352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3959351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&lt;1%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10</a:t>
            </a:r>
          </a:p>
        </p:txBody>
      </p:sp>
      <p:pic>
        <p:nvPicPr>
          <p:cNvPr id="100" name="ReportsOverTi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71" y="3520456"/>
            <a:ext cx="5298489" cy="2743184"/>
          </a:xfrm>
          <a:prstGeom prst="rect">
            <a:avLst/>
          </a:prstGeom>
        </p:spPr>
      </p:pic>
      <p:pic>
        <p:nvPicPr>
          <p:cNvPr id="106" name="Sympto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922" y="4461862"/>
            <a:ext cx="5703277" cy="178348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44E32E7-76BB-2B69-469E-D7C5940F7706}"/>
              </a:ext>
            </a:extLst>
          </p:cNvPr>
          <p:cNvSpPr txBox="1"/>
          <p:nvPr/>
        </p:nvSpPr>
        <p:spPr>
          <a:xfrm>
            <a:off x="6126480" y="4476987"/>
            <a:ext cx="614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symptoms analysis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3D7B76-8AC2-ECB6-7410-9A637B6C15D2}"/>
              </a:ext>
            </a:extLst>
          </p:cNvPr>
          <p:cNvSpPr txBox="1"/>
          <p:nvPr/>
        </p:nvSpPr>
        <p:spPr>
          <a:xfrm>
            <a:off x="842963" y="3479029"/>
            <a:ext cx="615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Reports over time by receipt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Fully containerised Bronze-Silver-Gold Data Lakehouse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55448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openFDA
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Apache
Kafka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HDFS
Bronze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Stream
Silver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560320"/>
            <a:ext cx="1554480" cy="128016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724912"/>
            <a:ext cx="14630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Spark MLlib
Gold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560320"/>
            <a:ext cx="1737360" cy="12801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95560" y="2724912"/>
            <a:ext cx="16459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
+ Metabase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911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079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Kafka
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247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16752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Spark
stream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1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ML
batch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5832" y="3163824"/>
            <a:ext cx="18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40111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3B6E"/>
                </a:solidFill>
              </a:rPr>
              <a:t>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1
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2
Buffering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3A
Bronze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3B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069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4
Gold /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069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3B6E"/>
                </a:solidFill>
              </a:rPr>
              <a:t>LAYER 5
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92040"/>
            <a:ext cx="11521440" cy="1737360"/>
          </a:xfrm>
          <a:prstGeom prst="rect">
            <a:avLst/>
          </a:prstGeom>
          <a:solidFill>
            <a:srgbClr val="D6E4F7"/>
          </a:solidFill>
          <a:ln w="1016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956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Technology Choices: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035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• Kafka: log-based replay → exactly-once delivery; decouples API rate limits from Spark speed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HDFS: self-contained, credential-free storage; trivially upgrades to S3/GCS by changing fs.defaultFS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Spark: unified API for Structured Streaming + MLlib; DataFrame API for cleaning; no second ML framework needed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• PostgreSQL + Metabase: mature JDBC connector; self-service dashboards; no analyst SQL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Lifecycle &amp; Pre-Processing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From raw openFDA JSON to clean Parquet in HDFS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openFDA → Kafka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Python producer queries drug/event REST endpoint continuously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Each record wrapped in metadata envelope: source_api, ingestion_timestamp, batch_number, raw_data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Published to healthcare_raw Kafka topic (gzip, acks=all)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20 pages × 100 records per ingest cycle = ~2,000 records/run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STORE &amp;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HDFS Bronze → 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Structured Streaming reads Kafka micro-batches (foreachBatch)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Raw envelopes archived to HDFS Bronze (audit-ready Parquet)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Cleaning steps: schema parsing → outlier nullification (negative age/weight) → median imputation → deduplication on report_id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Bad records routed to /healthcare/processed/bad_records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Binary risk_label derived from FDA seriousness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3474720" cy="53035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1234440"/>
            <a:ext cx="3474720" cy="640080"/>
          </a:xfrm>
          <a:prstGeom prst="rect">
            <a:avLst/>
          </a:prstGeom>
          <a:solidFill>
            <a:srgbClr val="155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252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PROCESS &amp; VISUALISE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Gold → PostgreSQL → Metabase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Spark MLlib batch job reads Silver layer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Feature engineering: StringIndexer → OneHotEncoder → VectorAssembler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Model training: Logistic Regression + Random Forest; best model serialised to HDFS Gold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Predictions + risk summaries written to PostgreSQL via JDBC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Metabase renders per-sex and per-product risk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1607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Methodology — 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5A623"/>
                </a:solidFill>
              </a:rPr>
              <a:t>Feature engineering + three-model comparison using Spark </a:t>
            </a:r>
            <a:r>
              <a:rPr sz="1400" b="0" i="0" dirty="0" err="1">
                <a:solidFill>
                  <a:srgbClr val="F5A623"/>
                </a:solidFill>
              </a:rPr>
              <a:t>MLlib</a:t>
            </a:r>
            <a:endParaRPr sz="1400" b="0" i="0" dirty="0">
              <a:solidFill>
                <a:srgbClr val="F5A623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256032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Feature Engineering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10058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1773936"/>
            <a:ext cx="9326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737360"/>
            <a:ext cx="219456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53896" y="1773936"/>
            <a:ext cx="21214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Input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37360"/>
            <a:ext cx="1920240" cy="475488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1773936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" y="2249424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Numeric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212848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53896" y="2249424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patient_age, patient_weight, batch_number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212848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4176" y="2249424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Median imputation → VectorAssembler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71215"/>
            <a:ext cx="10058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2907791"/>
            <a:ext cx="9326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Categorical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2871215"/>
            <a:ext cx="219456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53896" y="2907791"/>
            <a:ext cx="21214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patient_sex, medicinal_product, reaction, receipt_date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871215"/>
            <a:ext cx="1920240" cy="658368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64269" y="2833370"/>
            <a:ext cx="18470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1A1A2E"/>
                </a:solidFill>
              </a:rPr>
              <a:t>StringIndexer</a:t>
            </a:r>
            <a:r>
              <a:rPr sz="1050" b="0" i="0" dirty="0">
                <a:solidFill>
                  <a:srgbClr val="1A1A2E"/>
                </a:solidFill>
              </a:rPr>
              <a:t> (</a:t>
            </a:r>
            <a:r>
              <a:rPr sz="1050" b="0" i="0" dirty="0" err="1">
                <a:solidFill>
                  <a:srgbClr val="1A1A2E"/>
                </a:solidFill>
              </a:rPr>
              <a:t>handleInvalid</a:t>
            </a:r>
            <a:r>
              <a:rPr sz="1050" b="0" i="0" dirty="0">
                <a:solidFill>
                  <a:srgbClr val="1A1A2E"/>
                </a:solidFill>
              </a:rPr>
              <a:t>=keep) → </a:t>
            </a:r>
            <a:r>
              <a:rPr sz="1050" b="0" i="0" dirty="0" err="1">
                <a:solidFill>
                  <a:srgbClr val="1A1A2E"/>
                </a:solidFill>
              </a:rPr>
              <a:t>OneHotEncoder</a:t>
            </a:r>
            <a:r>
              <a:rPr sz="1050" b="0" i="0" dirty="0">
                <a:solidFill>
                  <a:srgbClr val="1A1A2E"/>
                </a:solidFill>
              </a:rPr>
              <a:t> → </a:t>
            </a:r>
            <a:r>
              <a:rPr sz="1050" b="0" i="0" dirty="0" err="1">
                <a:solidFill>
                  <a:srgbClr val="1A1A2E"/>
                </a:solidFill>
              </a:rPr>
              <a:t>VectorAssembler</a:t>
            </a:r>
            <a:endParaRPr sz="1050" b="0" i="0" dirty="0">
              <a:solidFill>
                <a:srgbClr val="1A1A2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26480" y="123444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Rule-Based Scorer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645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Deterministic: high-risk if any FDA seriousness flag = true (serious, death, hospitalisation). Perfectly interpretable, zero training required. Serves as ground-truth baseline.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97180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9992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832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Parametric probabilistic baseline. Produces calibrated probability estimates for continuous risk ranking. Interpretable via feature coefficients. Efficient on sparse one-hot vectors.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709160"/>
            <a:ext cx="5760720" cy="1600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365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20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Primary ML challenger. Captures non-linear drug-reaction-age interactions. Robust to outliers (bootstrap averaging). Handles class imbalance naturally. Best ML model (F1 = 0.86).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156" y="4142232"/>
            <a:ext cx="5652255" cy="1062942"/>
          </a:xfrm>
          <a:prstGeom prst="rect">
            <a:avLst/>
          </a:prstGeom>
          <a:solidFill>
            <a:srgbClr val="FFF3C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0087" y="411200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B6E"/>
                </a:solidFill>
              </a:rPr>
              <a:t>Primary Metric: Weighted F1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343400"/>
            <a:ext cx="5440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1A1A2E"/>
                </a:solidFill>
              </a:rPr>
              <a:t>F1 balances precision and recall — critical in healthcare where both false positives (unnecessary clinical alerts) and false negatives (missed serious events) carry real costs. Evaluation via Spark </a:t>
            </a:r>
            <a:r>
              <a:rPr sz="1250" b="0" i="0" dirty="0" err="1">
                <a:solidFill>
                  <a:srgbClr val="1A1A2E"/>
                </a:solidFill>
              </a:rPr>
              <a:t>MulticlassClassificationEvaluator</a:t>
            </a:r>
            <a:r>
              <a:rPr sz="1250" b="0" i="0" dirty="0">
                <a:solidFill>
                  <a:srgbClr val="1A1A2E"/>
                </a:solidFill>
              </a:rPr>
              <a:t> on an 80/20 train-test split.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7,573 adverse event records — risk classification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Model Performance (N = 7,573)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8"/>
            <a:ext cx="182880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" y="1682496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664208"/>
            <a:ext cx="96012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31136" y="1682496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64208"/>
            <a:ext cx="109728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1682496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64208"/>
            <a:ext cx="100584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682496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664208"/>
            <a:ext cx="822960" cy="438912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1682496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W.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03120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5" y="2121408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103120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31136" y="2121408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03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36976" y="2121408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103120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6" y="2121408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103120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1536" y="2121408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42032"/>
            <a:ext cx="18288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5" y="2560320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542032"/>
            <a:ext cx="96012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1136" y="2560320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2542032"/>
            <a:ext cx="109728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36976" y="2560320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542032"/>
            <a:ext cx="10058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9976" y="2560320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542032"/>
            <a:ext cx="82296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31536" y="2560320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0.86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980944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5" y="2999232"/>
            <a:ext cx="17556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Rule-Based Scorer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980944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231136" y="2999232"/>
            <a:ext cx="88696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980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36976" y="2999232"/>
            <a:ext cx="10241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980944"/>
            <a:ext cx="1005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9976" y="2999232"/>
            <a:ext cx="9326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2980944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31536" y="2999232"/>
            <a:ext cx="74980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703320"/>
            <a:ext cx="5669280" cy="265176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374903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Distribution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49.1% (3,708 / 7,573) classified as HIGH-RISK (label = 1)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50.9% (3,865 / 7,573) classified as LOW-RISK (label = 0)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Near-equal split reflects MedWatch reporting bias toward serious events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Average risk probability across all records: 0.491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Risk by Patient Sex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1664208"/>
            <a:ext cx="137160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36792" y="168249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Sex Group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79" y="1664208"/>
            <a:ext cx="77724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54111" y="1682496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1664208"/>
            <a:ext cx="86868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1682496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High-Risk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9147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Low-Risk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1664208"/>
            <a:ext cx="822960" cy="420624"/>
          </a:xfrm>
          <a:prstGeom prst="rect">
            <a:avLst/>
          </a:prstGeom>
          <a:solidFill>
            <a:srgbClr val="1557A8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60152" y="168249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Avg Prob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2084832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36792" y="21031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Female (2)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26679" y="2084832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54111" y="2103120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4,480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49640" y="2084832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77072" y="2103120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1,915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404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9147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2,565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32720" y="2084832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60152" y="210312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0.435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505456"/>
            <a:ext cx="137160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36792" y="252374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Male (1)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26679" y="2505456"/>
            <a:ext cx="77724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54111" y="2523744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2,326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49640" y="2505456"/>
            <a:ext cx="86868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77072" y="2523744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1,192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6404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9147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1,134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32720" y="2505456"/>
            <a:ext cx="822960" cy="420624"/>
          </a:xfrm>
          <a:prstGeom prst="rect">
            <a:avLst/>
          </a:prstGeom>
          <a:solidFill>
            <a:srgbClr val="D6E4F7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360152" y="2523744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0.511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292608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36792" y="294436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Unknown (0)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26679" y="2926080"/>
            <a:ext cx="777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54111" y="2944368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720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49640" y="2926080"/>
            <a:ext cx="868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77072" y="2944368"/>
            <a:ext cx="813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574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6404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49147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146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32720" y="2926080"/>
            <a:ext cx="8229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360152" y="2944368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</a:rPr>
              <a:t>0.767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3703320"/>
            <a:ext cx="5577840" cy="265176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92240" y="374903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3B6E"/>
                </a:solidFill>
              </a:rPr>
              <a:t>Top Product Risk Highlights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4187952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• Lipitor (atorvastatin): 507 reports, 97.6% high-risk (avg prob 0.929)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Gilenya (fingolimod): 54 reports, 94.4% high-risk (avg prob 0.900)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Pradaxa (dabigatran): 68 reports, 76.5% high-risk (avg prob 0.738)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Warfarin: 15 reports, 80% high-risk — consistent with bleeding profile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Letairis: 1,444 reports, only 6.8% high-risk (low severity reports)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• Claritin / Oxytrol: 0% high-risk across all reports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Community Contribution &amp;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Open-source, reproducible, and ethically 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Open-Source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Full source code publicly available on GitHub (github.com/2311-ops/bigdata_healthcare_project)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Reusable reference implementation: any openFDA-based analytics project can fork and adapt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Docker Compose setup reproducible in minutes on any machine with Docker installed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Bronze-Silver-Gold HDFS pattern demonstrated outside cloud — useful for institutions without cloud budgets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Metabase dashboard templates exportable for pharma surveillance teams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Educational value: self-contained end-to-end example for CSCI461 and similar 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486400" cy="5029200"/>
          </a:xfrm>
          <a:prstGeom prst="rect">
            <a:avLst/>
          </a:prstGeom>
          <a:solidFill>
            <a:srgbClr val="FDF0E8"/>
          </a:solidFill>
          <a:ln w="12700">
            <a:solidFill>
              <a:srgbClr val="D97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Ethical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A1A2E"/>
                </a:solidFill>
              </a:rPr>
              <a:t>• Patient Privacy: openFDA data contains no direct identifiers; combination of rare fields may enable re-identification — platform designed for aggregate population-level analysis only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HIPAA Compliance: any extension to identifiable data requires IRB approval + HIPAA Safe Harbor de-identification + HDFS role-based access control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Clinical Disclaimer: risk labels reflect reporter-perceived seriousness, not validated clinical outcomes; must NOT be used for individual patient decisions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Algorithmic Fairness: unknown-sex records show 79.7% high-risk rate vs 42.7% for females — bias likely from reporting practices, not clinical reality; formal equalised-odds audit recommended</a:t>
            </a:r>
          </a:p>
          <a:p>
            <a:pPr algn="l"/>
            <a:r>
              <a:rPr sz="1350">
                <a:solidFill>
                  <a:srgbClr val="1A1A2E"/>
                </a:solidFill>
              </a:rPr>
              <a:t>• Data Integrity: bad records partitioned and preserved; no silent data loss in the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Summary of achievements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029200"/>
          </a:xfrm>
          <a:prstGeom prst="rect">
            <a:avLst/>
          </a:prstGeom>
          <a:solidFill>
            <a:srgbClr val="D6E4F7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Ingested 7,573 adverse event records via openFDA → Kafka streaming pipeline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Implemented full Bronze-Silver-Gold HDFS data lakehouse with Spark Structured Streaming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Rule-based risk scorer: perfect classification consistency (F1 = 1.00)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Random Forest: W. F1 = 0.86 — outperforms Logistic Regression (0.83)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49.1% of records classified as high-risk; meaningful variation across drugs and demographics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Fully containerised platform — reproducible on any machine with Docker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Metabase dashboards for self-service pharmacovigilance analytics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Paper addresses all rubric phases: idea, design, data lifecycle, methodology, results, ethics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EEF4FD"/>
          </a:solidFill>
          <a:ln w="12700">
            <a:solidFill>
              <a:srgbClr val="155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98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3B6E"/>
                </a:solidFill>
              </a:rPr>
              <a:t>Future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• NLP feature extraction from narrative adverse event descriptions (Spark NLP / BERT)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Extend pipeline to additional openFDA endpoints: device events, drug recalls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Formal algorithmic fairness audit using equalised-odds metrics across demographic subgroups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Graph Neural Networks for drug-drug interaction signal detection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RAG (Retrieval-Augmented Generation) over the knowledge graph for natural language pharmacovigilance summaries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Production deployment with HDFS replication factor = 3, Kafka partitions = 10+, cloud OLAP for PostgreSQL</a:t>
            </a:r>
          </a:p>
          <a:p>
            <a:pPr algn="l"/>
            <a:r>
              <a:rPr sz="1300">
                <a:solidFill>
                  <a:srgbClr val="1A1A2E"/>
                </a:solidFill>
              </a:rPr>
              <a:t>• Integrate real-time alerting when high-risk thresholds exceeded for specific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56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/>
          <p:nvPr/>
        </p:nvSpPr>
        <p:spPr>
          <a:xfrm>
            <a:off x="320040" y="109728"/>
            <a:ext cx="11247120" cy="685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Metabase Dashboard — Visual Insights</a:t>
            </a:r>
          </a:p>
        </p:txBody>
      </p:sp>
      <p:sp>
        <p:nvSpPr>
          <p:cNvPr id="5" name="Sub"/>
          <p:cNvSpPr/>
          <p:nvPr/>
        </p:nvSpPr>
        <p:spPr>
          <a:xfrm>
            <a:off x="320040" y="713232"/>
            <a:ext cx="11247120" cy="32004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800" dirty="0">
                <a:solidFill>
                  <a:srgbClr val="E8A020"/>
                </a:solidFill>
              </a:rPr>
              <a:t>Key charts from the automated pharmacovigilance analytics platform</a:t>
            </a:r>
          </a:p>
        </p:txBody>
      </p:sp>
      <p:sp>
        <p:nvSpPr>
          <p:cNvPr id="6" name="Div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LabelTL"/>
          <p:cNvSpPr/>
          <p:nvPr/>
        </p:nvSpPr>
        <p:spPr>
          <a:xfrm>
            <a:off x="350000" y="113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Actual Risk Distribution</a:t>
            </a:r>
          </a:p>
        </p:txBody>
      </p:sp>
      <p:sp>
        <p:nvSpPr>
          <p:cNvPr id="21" name="LabelTR"/>
          <p:cNvSpPr/>
          <p:nvPr/>
        </p:nvSpPr>
        <p:spPr>
          <a:xfrm>
            <a:off x="6350000" y="113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Model Prediction Distribution</a:t>
            </a:r>
          </a:p>
        </p:txBody>
      </p:sp>
      <p:sp>
        <p:nvSpPr>
          <p:cNvPr id="22" name="LabelBL"/>
          <p:cNvSpPr/>
          <p:nvPr/>
        </p:nvSpPr>
        <p:spPr>
          <a:xfrm>
            <a:off x="350000" y="387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Serious Outcomes Breakdown</a:t>
            </a:r>
          </a:p>
        </p:txBody>
      </p:sp>
      <p:sp>
        <p:nvSpPr>
          <p:cNvPr id="23" name="LabelBR"/>
          <p:cNvSpPr/>
          <p:nvPr/>
        </p:nvSpPr>
        <p:spPr>
          <a:xfrm>
            <a:off x="6350000" y="3870000"/>
            <a:ext cx="5500000" cy="32004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0D3B6E"/>
                </a:solidFill>
              </a:rPr>
              <a:t>Top Medicines by High-Risk Reports</a:t>
            </a:r>
          </a:p>
        </p:txBody>
      </p:sp>
      <p:pic>
        <p:nvPicPr>
          <p:cNvPr id="101" name="HighLowRi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1480000"/>
            <a:ext cx="5600000" cy="2300000"/>
          </a:xfrm>
          <a:prstGeom prst="rect">
            <a:avLst/>
          </a:prstGeom>
        </p:spPr>
      </p:pic>
      <p:pic>
        <p:nvPicPr>
          <p:cNvPr id="102" name="ModelPredi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000" y="1480000"/>
            <a:ext cx="5600000" cy="2300000"/>
          </a:xfrm>
          <a:prstGeom prst="rect">
            <a:avLst/>
          </a:prstGeom>
        </p:spPr>
      </p:pic>
      <p:pic>
        <p:nvPicPr>
          <p:cNvPr id="103" name="SeriousOutcom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4200000"/>
            <a:ext cx="5600000" cy="2350000"/>
          </a:xfrm>
          <a:prstGeom prst="rect">
            <a:avLst/>
          </a:prstGeom>
        </p:spPr>
      </p:pic>
      <p:pic>
        <p:nvPicPr>
          <p:cNvPr id="104" name="HighRiskMe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000" y="4200000"/>
            <a:ext cx="5600000" cy="2350000"/>
          </a:xfrm>
          <a:prstGeom prst="rect">
            <a:avLst/>
          </a:prstGeom>
        </p:spPr>
      </p:pic>
      <p:sp>
        <p:nvSpPr>
          <p:cNvPr id="30" name="Foote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FooterText"/>
          <p:cNvSpPr/>
          <p:nvPr/>
        </p:nvSpPr>
        <p:spPr>
          <a:xfrm>
            <a:off x="274320" y="6556248"/>
            <a:ext cx="10058400" cy="27432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000" dirty="0">
                <a:solidFill>
                  <a:srgbClr val="FFFFFF"/>
                </a:solidFill>
              </a:rPr>
              <a:t>CSCI461 — Introduction to Big Data  |  Spring 2026  |  Nile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1800</Words>
  <Application>Microsoft Office PowerPoint</Application>
  <PresentationFormat>Custom</PresentationFormat>
  <Paragraphs>249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Khaled Mohamed Yehia</cp:lastModifiedBy>
  <cp:revision>3</cp:revision>
  <dcterms:created xsi:type="dcterms:W3CDTF">2013-01-27T09:14:16Z</dcterms:created>
  <dcterms:modified xsi:type="dcterms:W3CDTF">2026-05-17T03:40:19Z</dcterms:modified>
  <cp:category/>
</cp:coreProperties>
</file>