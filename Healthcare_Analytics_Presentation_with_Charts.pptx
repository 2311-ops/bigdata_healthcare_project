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Relationship Id="rId17" Type="http://schemas.openxmlformats.org/officeDocument/2006/relationships/slide" Target="slides/slide1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ed Osama Elkassas" userId="9e17d65e-e231-4d71-8187-982259f9f7d1" providerId="ADAL" clId="{D7A72787-2A1C-4B9E-BEEA-E6F48EB8C45A}"/>
    <pc:docChg chg="modSld">
      <pc:chgData name="Mohamed Osama Elkassas" userId="9e17d65e-e231-4d71-8187-982259f9f7d1" providerId="ADAL" clId="{D7A72787-2A1C-4B9E-BEEA-E6F48EB8C45A}" dt="2026-05-17T01:05:12.693" v="5" actId="14100"/>
      <pc:docMkLst>
        <pc:docMk/>
      </pc:docMkLst>
      <pc:sldChg chg="modSp mod">
        <pc:chgData name="Mohamed Osama Elkassas" userId="9e17d65e-e231-4d71-8187-982259f9f7d1" providerId="ADAL" clId="{D7A72787-2A1C-4B9E-BEEA-E6F48EB8C45A}" dt="2026-05-17T01:05:12.693" v="5" actId="14100"/>
        <pc:sldMkLst>
          <pc:docMk/>
          <pc:sldMk cId="0" sldId="262"/>
        </pc:sldMkLst>
        <pc:spChg chg="mod">
          <ac:chgData name="Mohamed Osama Elkassas" userId="9e17d65e-e231-4d71-8187-982259f9f7d1" providerId="ADAL" clId="{D7A72787-2A1C-4B9E-BEEA-E6F48EB8C45A}" dt="2026-05-17T01:05:12.693" v="5" actId="14100"/>
          <ac:spMkLst>
            <pc:docMk/>
            <pc:sldMk cId="0" sldId="262"/>
            <ac:spMk id="36" creationId="{00000000-0000-0000-0000-000000000000}"/>
          </ac:spMkLst>
        </pc:spChg>
        <pc:spChg chg="mod">
          <ac:chgData name="Mohamed Osama Elkassas" userId="9e17d65e-e231-4d71-8187-982259f9f7d1" providerId="ADAL" clId="{D7A72787-2A1C-4B9E-BEEA-E6F48EB8C45A}" dt="2026-05-17T01:04:59.543" v="3" actId="1076"/>
          <ac:spMkLst>
            <pc:docMk/>
            <pc:sldMk cId="0" sldId="262"/>
            <ac:spMk id="37" creationId="{00000000-0000-0000-0000-000000000000}"/>
          </ac:spMkLst>
        </pc:spChg>
        <pc:spChg chg="mod">
          <ac:chgData name="Mohamed Osama Elkassas" userId="9e17d65e-e231-4d71-8187-982259f9f7d1" providerId="ADAL" clId="{D7A72787-2A1C-4B9E-BEEA-E6F48EB8C45A}" dt="2026-05-17T01:05:08.401" v="4" actId="14100"/>
          <ac:spMkLst>
            <pc:docMk/>
            <pc:sldMk cId="0" sldId="262"/>
            <ac:spMk id="38" creationId="{00000000-0000-0000-0000-000000000000}"/>
          </ac:spMkLst>
        </pc:spChg>
      </pc:sldChg>
    </pc:docChg>
  </pc:docChgLst>
</pc:chgInfo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10" Type="http://schemas.openxmlformats.org/officeDocument/2006/relationships/image" Target="../media/image7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10" Type="http://schemas.openxmlformats.org/officeDocument/2006/relationships/image" Target="../media/image3.png"/><Relationship Id="rId11" Type="http://schemas.openxmlformats.org/officeDocument/2006/relationships/image" Target="../media/image5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10" Type="http://schemas.openxmlformats.org/officeDocument/2006/relationships/image" Target="../media/image1.png"/><Relationship Id="rId11" Type="http://schemas.openxmlformats.org/officeDocument/2006/relationships/image" Target="../media/image2.png"/><Relationship Id="rId12" Type="http://schemas.openxmlformats.org/officeDocument/2006/relationships/image" Target="../media/image4.png"/><Relationship Id="rId1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16052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Real-Time Healthcare Adverse Event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D6E4F7"/>
                </a:solidFill>
              </a:rPr>
              <a:t>using Big Data Streaming and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Youssif Zaghloul  •  Kazzy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6E4F7"/>
                </a:solidFill>
              </a:rPr>
              <a:t>CSCI461 — Introduction to Big Data   |   Spring 2026   |   Nile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434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5A623"/>
                </a:solidFill>
              </a:rPr>
              <a:t>Apache Kafka  ·  HDFS  ·  Spark MLlib  ·  PostgreSQL  ·  Metabase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Problem Statement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Why does real-time pharmacovigilance matter?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486400" cy="5029200"/>
          </a:xfrm>
          <a:prstGeom prst="rect">
            <a:avLst/>
          </a:prstGeom>
          <a:solidFill>
            <a:srgbClr val="D6E4F7"/>
          </a:solidFill>
          <a:ln w="1270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355080" y="1234440"/>
            <a:ext cx="5486400" cy="5029200"/>
          </a:xfrm>
          <a:prstGeom prst="rect">
            <a:avLst/>
          </a:prstGeom>
          <a:solidFill>
            <a:srgbClr val="D6E4F7"/>
          </a:solidFill>
          <a:ln w="1270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3B6E"/>
                </a:solidFill>
              </a:rPr>
              <a:t>The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9164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2E"/>
                </a:solidFill>
              </a:rPr>
              <a:t>• FDA receives millions of spontaneous adverse-event reports each year via MedWatch</a:t>
            </a:r>
          </a:p>
          <a:p>
            <a:pPr algn="l"/>
            <a:r>
              <a:rPr sz="1400">
                <a:solidFill>
                  <a:srgbClr val="1A1A2E"/>
                </a:solidFill>
              </a:rPr>
              <a:t>• Traditional pipelines are batch-oriented — reports analysed offline with significant latency</a:t>
            </a:r>
          </a:p>
          <a:p>
            <a:pPr algn="l"/>
            <a:r>
              <a:rPr sz="1400">
                <a:solidFill>
                  <a:srgbClr val="1A1A2E"/>
                </a:solidFill>
              </a:rPr>
              <a:t>• Delayed detection of drug safety signals can cost lives</a:t>
            </a:r>
          </a:p>
          <a:p>
            <a:pPr algn="l"/>
            <a:r>
              <a:rPr sz="1400">
                <a:solidFill>
                  <a:srgbClr val="1A1A2E"/>
                </a:solidFill>
              </a:rPr>
              <a:t>• No open-source, self-contained, end-to-end reference pipeline exists for course-level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2801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3B6E"/>
                </a:solidFill>
              </a:rPr>
              <a:t>Our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69164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2E"/>
                </a:solidFill>
              </a:rPr>
              <a:t>• Ingest openFDA Drug Adverse Event records in near real-time via Apache Kafka</a:t>
            </a:r>
          </a:p>
          <a:p>
            <a:pPr algn="l"/>
            <a:r>
              <a:rPr sz="1400">
                <a:solidFill>
                  <a:srgbClr val="1A1A2E"/>
                </a:solidFill>
              </a:rPr>
              <a:t>• Store raw + cleaned data in HDFS (bronze-silver-gold architecture)</a:t>
            </a:r>
          </a:p>
          <a:p>
            <a:pPr algn="l"/>
            <a:r>
              <a:rPr sz="1400">
                <a:solidFill>
                  <a:srgbClr val="1A1A2E"/>
                </a:solidFill>
              </a:rPr>
              <a:t>• Apply Spark MLlib risk classification to 7,573+ records</a:t>
            </a:r>
          </a:p>
          <a:p>
            <a:pPr algn="l"/>
            <a:r>
              <a:rPr sz="1400">
                <a:solidFill>
                  <a:srgbClr val="1A1A2E"/>
                </a:solidFill>
              </a:rPr>
              <a:t>• Surface insights via PostgreSQL + Metabase dashboards</a:t>
            </a:r>
          </a:p>
          <a:p>
            <a:pPr algn="l"/>
            <a:r>
              <a:rPr sz="1400">
                <a:solidFill>
                  <a:srgbClr val="1A1A2E"/>
                </a:solidFill>
              </a:rPr>
              <a:t>• Fully containerised — runs with a single docker compose 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" y="65562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CSCI461 — Introduction to Big Data  |  Spring 2026  |  Nile University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55624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2 / 10</a:t>
            </a:r>
          </a:p>
        </p:txBody>
      </p:sp>
      <p:pic>
        <p:nvPicPr>
          <p:cNvPr id="105" name="TopReactions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000" y="1300000"/>
            <a:ext cx="5500000" cy="280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SMART goals aligned with the CSCI461 rubric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577840" cy="2423160"/>
          </a:xfrm>
          <a:prstGeom prst="rect">
            <a:avLst/>
          </a:prstGeom>
          <a:solidFill>
            <a:srgbClr val="EEF4FD"/>
          </a:solidFill>
          <a:ln w="1524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79" y="1325880"/>
            <a:ext cx="411480" cy="411480"/>
          </a:xfrm>
          <a:prstGeom prst="rect">
            <a:avLst/>
          </a:prstGeom>
          <a:solidFill>
            <a:srgbClr val="15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79" y="12984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3258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3B6E"/>
                </a:solidFill>
              </a:rPr>
              <a:t>Ingestion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801368"/>
            <a:ext cx="5257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</a:rPr>
              <a:t>Stream &gt;7,500 FDA adverse-event records through Kafka within a single ingest session using the openFDA REST API.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54496" y="1234440"/>
            <a:ext cx="5577840" cy="2423160"/>
          </a:xfrm>
          <a:prstGeom prst="rect">
            <a:avLst/>
          </a:prstGeom>
          <a:solidFill>
            <a:srgbClr val="EEF4FD"/>
          </a:solidFill>
          <a:ln w="1524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45936" y="1325880"/>
            <a:ext cx="411480" cy="411480"/>
          </a:xfrm>
          <a:prstGeom prst="rect">
            <a:avLst/>
          </a:prstGeom>
          <a:solidFill>
            <a:srgbClr val="15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45936" y="12984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48856" y="13258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3B6E"/>
                </a:solidFill>
              </a:rPr>
              <a:t>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1801368"/>
            <a:ext cx="5257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</a:rPr>
              <a:t>Implement a bronze-silver-gold HDFS data lakehouse with automated Spark Structured Streaming cleaning and deduplication.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886200"/>
            <a:ext cx="5577840" cy="2423160"/>
          </a:xfrm>
          <a:prstGeom prst="rect">
            <a:avLst/>
          </a:prstGeom>
          <a:solidFill>
            <a:srgbClr val="EEF4FD"/>
          </a:solidFill>
          <a:ln w="1524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11479" y="3977639"/>
            <a:ext cx="411480" cy="411480"/>
          </a:xfrm>
          <a:prstGeom prst="rect">
            <a:avLst/>
          </a:prstGeom>
          <a:solidFill>
            <a:srgbClr val="15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79" y="39502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97763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3B6E"/>
                </a:solidFill>
              </a:rPr>
              <a:t>Classification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453128"/>
            <a:ext cx="5257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</a:rPr>
              <a:t>Train and evaluate Logistic Regression and Random Forest models (+ rule-based baseline) achieving ≥0.85 weighted F1 on risk labels.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54496" y="3886200"/>
            <a:ext cx="5577840" cy="2423160"/>
          </a:xfrm>
          <a:prstGeom prst="rect">
            <a:avLst/>
          </a:prstGeom>
          <a:solidFill>
            <a:srgbClr val="EEF4FD"/>
          </a:solidFill>
          <a:ln w="1524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45936" y="3977639"/>
            <a:ext cx="411480" cy="411480"/>
          </a:xfrm>
          <a:prstGeom prst="rect">
            <a:avLst/>
          </a:prstGeom>
          <a:solidFill>
            <a:srgbClr val="15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45936" y="39502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48856" y="397763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3B6E"/>
                </a:solidFill>
              </a:rPr>
              <a:t>Reporting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7376" y="4453128"/>
            <a:ext cx="5257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</a:rPr>
              <a:t>Aggregate and visualise risk predictions by patient sex and medicinal product in a self-service Metabase dashboard.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74320" y="65562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CSCI461 — Introduction to Big Data  |  Spring 2026  |  Nile University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55624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Dataset — openFDA Drug Adverse Events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Publicly accessible, continuously updated safety reports since 1969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303520" cy="5029200"/>
          </a:xfrm>
          <a:prstGeom prst="rect">
            <a:avLst/>
          </a:prstGeom>
          <a:solidFill>
            <a:srgbClr val="D6E4F7"/>
          </a:solidFill>
          <a:ln w="1270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3B6E"/>
                </a:solidFill>
              </a:rPr>
              <a:t>Dataset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>
                <a:solidFill>
                  <a:srgbClr val="1A1A2E"/>
                </a:solidFill>
              </a:rPr>
              <a:t>• Source: FDA MedWatch spontaneous safety report database</a:t>
            </a:r>
          </a:p>
          <a:p>
            <a:pPr algn="l"/>
            <a:r>
              <a:rPr sz="1350">
                <a:solidFill>
                  <a:srgbClr val="1A1A2E"/>
                </a:solidFill>
              </a:rPr>
              <a:t>• Access: openFDA drug/event REST API (no key required)</a:t>
            </a:r>
          </a:p>
          <a:p>
            <a:pPr algn="l"/>
            <a:r>
              <a:rPr sz="1350">
                <a:solidFill>
                  <a:srgbClr val="1A1A2E"/>
                </a:solidFill>
              </a:rPr>
              <a:t>• Format: Nested JSON → Parquet after ingestion</a:t>
            </a:r>
          </a:p>
          <a:p>
            <a:pPr algn="l"/>
            <a:r>
              <a:rPr sz="1350">
                <a:solidFill>
                  <a:srgbClr val="1A1A2E"/>
                </a:solidFill>
              </a:rPr>
              <a:t>• Records processed: 7,573 unique adverse event reports</a:t>
            </a:r>
          </a:p>
          <a:p>
            <a:pPr algn="l"/>
            <a:r>
              <a:rPr sz="1350">
                <a:solidFill>
                  <a:srgbClr val="1A1A2E"/>
                </a:solidFill>
              </a:rPr>
              <a:t>• Fields used: patient age, weight, sex; drug name; reaction MedDRA term; seriousness flags (death, hospitalisation); receipt date</a:t>
            </a:r>
          </a:p>
          <a:p>
            <a:pPr algn="l"/>
            <a:r>
              <a:rPr sz="1350">
                <a:solidFill>
                  <a:srgbClr val="1A1A2E"/>
                </a:solidFill>
              </a:rPr>
              <a:t>• License: Public domain (US government open data)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234440"/>
            <a:ext cx="57607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129844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3B6E"/>
                </a:solidFill>
              </a:rPr>
              <a:t>Data Quality After Phase 2 Cleaning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783080"/>
            <a:ext cx="2103120" cy="530352"/>
          </a:xfrm>
          <a:prstGeom prst="rect">
            <a:avLst/>
          </a:prstGeom>
          <a:solidFill>
            <a:srgbClr val="1557A8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59" y="1837943"/>
            <a:ext cx="20116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Field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58200" y="1783080"/>
            <a:ext cx="2194560" cy="530352"/>
          </a:xfrm>
          <a:prstGeom prst="rect">
            <a:avLst/>
          </a:prstGeom>
          <a:solidFill>
            <a:srgbClr val="1557A8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0" y="1837943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Issue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744200" y="1783080"/>
            <a:ext cx="822960" cy="530352"/>
          </a:xfrm>
          <a:prstGeom prst="rect">
            <a:avLst/>
          </a:prstGeom>
          <a:solidFill>
            <a:srgbClr val="1557A8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789920" y="1837943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2313432"/>
            <a:ext cx="21031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359" y="2368296"/>
            <a:ext cx="20116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JSON parse failure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58200" y="2313432"/>
            <a:ext cx="21945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20" y="2368296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Bad records routed to bad_records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744200" y="2313432"/>
            <a:ext cx="822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789920" y="2368296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~3–5%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2843784"/>
            <a:ext cx="2103120" cy="530352"/>
          </a:xfrm>
          <a:prstGeom prst="rect">
            <a:avLst/>
          </a:prstGeom>
          <a:solidFill>
            <a:srgbClr val="D6E4F7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09359" y="2898648"/>
            <a:ext cx="20116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Patient age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58200" y="2843784"/>
            <a:ext cx="2194560" cy="530352"/>
          </a:xfrm>
          <a:prstGeom prst="rect">
            <a:avLst/>
          </a:prstGeom>
          <a:solidFill>
            <a:srgbClr val="D6E4F7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03920" y="2898648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Null values → median imputed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744200" y="2843784"/>
            <a:ext cx="822960" cy="530352"/>
          </a:xfrm>
          <a:prstGeom prst="rect">
            <a:avLst/>
          </a:prstGeom>
          <a:solidFill>
            <a:srgbClr val="D6E4F7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789920" y="2898648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~12%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3374135"/>
            <a:ext cx="21031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09359" y="3428999"/>
            <a:ext cx="20116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Patient weight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58200" y="3374135"/>
            <a:ext cx="21945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03920" y="3428999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Null values → median imputed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744200" y="3374135"/>
            <a:ext cx="822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789920" y="3428999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~28%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3904487"/>
            <a:ext cx="2103120" cy="530352"/>
          </a:xfrm>
          <a:prstGeom prst="rect">
            <a:avLst/>
          </a:prstGeom>
          <a:solidFill>
            <a:srgbClr val="D6E4F7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09359" y="3959351"/>
            <a:ext cx="20116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Duplicate report IDs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58200" y="3904487"/>
            <a:ext cx="2194560" cy="530352"/>
          </a:xfrm>
          <a:prstGeom prst="rect">
            <a:avLst/>
          </a:prstGeom>
          <a:solidFill>
            <a:srgbClr val="D6E4F7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503920" y="3959351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Within single ingest cycle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744200" y="3904487"/>
            <a:ext cx="822960" cy="530352"/>
          </a:xfrm>
          <a:prstGeom prst="rect">
            <a:avLst/>
          </a:prstGeom>
          <a:solidFill>
            <a:srgbClr val="D6E4F7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789920" y="3959351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&lt;1%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74320" y="65562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CSCI461 — Introduction to Big Data  |  Spring 2026  |  Nile University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0" y="655624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4 / 10</a:t>
            </a:r>
          </a:p>
        </p:txBody>
      </p:sp>
      <p:pic>
        <p:nvPicPr>
          <p:cNvPr id="100" name="ReportsOverTim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00000" y="1400000"/>
            <a:ext cx="5600000" cy="3000000"/>
          </a:xfrm>
          <a:prstGeom prst="rect">
            <a:avLst/>
          </a:prstGeom>
        </p:spPr>
      </p:pic>
      <p:pic>
        <p:nvPicPr>
          <p:cNvPr id="106" name="Symptoms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00000" y="4700000"/>
            <a:ext cx="5600000" cy="190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Fully containerised Bronze-Silver-Gold Data Lakehouse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2560320"/>
            <a:ext cx="1554480" cy="128016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2724912"/>
            <a:ext cx="146303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openFDA
REST API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2560320"/>
            <a:ext cx="1554480" cy="1280160"/>
          </a:xfrm>
          <a:prstGeom prst="rect">
            <a:avLst/>
          </a:prstGeom>
          <a:solidFill>
            <a:srgbClr val="15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14600" y="2724912"/>
            <a:ext cx="146303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Apache
Kafka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2560320"/>
            <a:ext cx="1554480" cy="1280160"/>
          </a:xfrm>
          <a:prstGeom prst="rect">
            <a:avLst/>
          </a:prstGeom>
          <a:solidFill>
            <a:srgbClr val="15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2724912"/>
            <a:ext cx="146303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HDFS
Bronze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2560320"/>
            <a:ext cx="1554480" cy="1280160"/>
          </a:xfrm>
          <a:prstGeom prst="rect">
            <a:avLst/>
          </a:prstGeom>
          <a:solidFill>
            <a:srgbClr val="15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59" y="2724912"/>
            <a:ext cx="146303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Spark Stream
Silver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0" y="2560320"/>
            <a:ext cx="1554480" cy="1280160"/>
          </a:xfrm>
          <a:prstGeom prst="rect">
            <a:avLst/>
          </a:prstGeom>
          <a:solidFill>
            <a:srgbClr val="15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49640" y="2724912"/>
            <a:ext cx="146303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Spark MLlib
Gold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49840" y="2560320"/>
            <a:ext cx="1737360" cy="128016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195560" y="2724912"/>
            <a:ext cx="164591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PostgreSQL
+ Metabase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39112" y="3163824"/>
            <a:ext cx="182880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993392" y="283463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3B6E"/>
                </a:solidFill>
              </a:rPr>
              <a:t>REST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50792" y="3163824"/>
            <a:ext cx="182880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05072" y="283463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3B6E"/>
                </a:solidFill>
              </a:rPr>
              <a:t>Kafka
topic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62472" y="3163824"/>
            <a:ext cx="182880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016752" y="283463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3B6E"/>
                </a:solidFill>
              </a:rPr>
              <a:t>Spark
stream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74151" y="3163824"/>
            <a:ext cx="182880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28431" y="283463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3B6E"/>
                </a:solidFill>
              </a:rPr>
              <a:t>ML
batch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85832" y="3163824"/>
            <a:ext cx="182880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40111" y="283463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3B6E"/>
                </a:solidFill>
              </a:rPr>
              <a:t>JDBC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0690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3B6E"/>
                </a:solidFill>
              </a:rPr>
              <a:t>LAYER 1
Ingestion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40690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3B6E"/>
                </a:solidFill>
              </a:rPr>
              <a:t>LAYER 2
Buffering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40690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3B6E"/>
                </a:solidFill>
              </a:rPr>
              <a:t>LAYER 3A
Bronze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0690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3B6E"/>
                </a:solidFill>
              </a:rPr>
              <a:t>LAYER 3B
Silver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40690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3B6E"/>
                </a:solidFill>
              </a:rPr>
              <a:t>LAYER 4
Gold / ML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40" y="40690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3B6E"/>
                </a:solidFill>
              </a:rPr>
              <a:t>LAYER 5
Reporting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892040"/>
            <a:ext cx="11521440" cy="1737360"/>
          </a:xfrm>
          <a:prstGeom prst="rect">
            <a:avLst/>
          </a:prstGeom>
          <a:solidFill>
            <a:srgbClr val="D6E4F7"/>
          </a:solidFill>
          <a:ln w="1016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920" y="495604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3B6E"/>
                </a:solidFill>
              </a:rPr>
              <a:t>Technology Choices: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530352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1A1A2E"/>
                </a:solidFill>
              </a:rPr>
              <a:t>• Kafka: log-based replay → exactly-once delivery; decouples API rate limits from Spark speed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• HDFS: self-contained, credential-free storage; trivially upgrades to S3/GCS by changing fs.defaultFS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• Spark: unified API for Structured Streaming + MLlib; DataFrame API for cleaning; no second ML framework needed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• PostgreSQL + Metabase: mature JDBC connector; self-service dashboards; no analyst SQL required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74320" y="65562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CSCI461 — Introduction to Big Data  |  Spring 2026  |  Nile University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655624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 Lifecycle &amp; Pre-Processing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From raw openFDA JSON to clean Parquet in HDFS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3474720" cy="5303520"/>
          </a:xfrm>
          <a:prstGeom prst="rect">
            <a:avLst/>
          </a:prstGeom>
          <a:solidFill>
            <a:srgbClr val="D6E4F7"/>
          </a:solidFill>
          <a:ln w="1270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3474720" cy="640080"/>
          </a:xfrm>
          <a:prstGeom prst="rect">
            <a:avLst/>
          </a:prstGeom>
          <a:solidFill>
            <a:srgbClr val="15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79" y="125272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ACQUIRE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57276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A623"/>
                </a:solidFill>
              </a:rPr>
              <a:t>openFDA → Kafka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3246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1A1A2E"/>
                </a:solidFill>
              </a:rPr>
              <a:t>• Python producer queries drug/event REST endpoint continuously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• Each record wrapped in metadata envelope: source_api, ingestion_timestamp, batch_number, raw_data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• Published to healthcare_raw Kafka topic (gzip, acks=all)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• 20 pages × 100 records per ingest cycle = ~2,000 records/run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1234440"/>
            <a:ext cx="3474720" cy="5303520"/>
          </a:xfrm>
          <a:prstGeom prst="rect">
            <a:avLst/>
          </a:prstGeom>
          <a:solidFill>
            <a:srgbClr val="D6E4F7"/>
          </a:solidFill>
          <a:ln w="1270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60520" y="1234440"/>
            <a:ext cx="3474720" cy="640080"/>
          </a:xfrm>
          <a:prstGeom prst="rect">
            <a:avLst/>
          </a:prstGeom>
          <a:solidFill>
            <a:srgbClr val="15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51959" y="125272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STORE &amp; CLEAN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59" y="157276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A623"/>
                </a:solidFill>
              </a:rPr>
              <a:t>HDFS Bronze → Silver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1920240"/>
            <a:ext cx="3246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1A1A2E"/>
                </a:solidFill>
              </a:rPr>
              <a:t>• Spark Structured Streaming reads Kafka micro-batches (foreachBatch)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• Raw envelopes archived to HDFS Bronze (audit-ready Parquet)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• Cleaning steps: schema parsing → outlier nullification (negative age/weight) → median imputation → deduplication on report_id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• Bad records routed to /healthcare/processed/bad_records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• Binary risk_label derived from FDA seriousness flags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9248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1234440"/>
            <a:ext cx="3474720" cy="5303520"/>
          </a:xfrm>
          <a:prstGeom prst="rect">
            <a:avLst/>
          </a:prstGeom>
          <a:solidFill>
            <a:srgbClr val="D6E4F7"/>
          </a:solidFill>
          <a:ln w="1270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01000" y="1234440"/>
            <a:ext cx="3474720" cy="640080"/>
          </a:xfrm>
          <a:prstGeom prst="rect">
            <a:avLst/>
          </a:prstGeom>
          <a:solidFill>
            <a:srgbClr val="15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92440" y="125272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PROCESS &amp; VISUALISE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157276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A623"/>
                </a:solidFill>
              </a:rPr>
              <a:t>Gold → PostgreSQL → Metabase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1920240"/>
            <a:ext cx="3246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1A1A2E"/>
                </a:solidFill>
              </a:rPr>
              <a:t>• Spark MLlib batch job reads Silver layer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• Feature engineering: StringIndexer → OneHotEncoder → VectorAssembler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• Model training: Logistic Regression + Random Forest; best model serialised to HDFS Gold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• Predictions + risk summaries written to PostgreSQL via JDBC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• Metabase renders per-sex and per-product risk dashboards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4320" y="65562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CSCI461 — Introduction to Big Data  |  Spring 2026  |  Nile University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55624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ML Methodology — Risk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Feature engineering + three-model comparison using Spark MLlib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303520" cy="2560320"/>
          </a:xfrm>
          <a:prstGeom prst="rect">
            <a:avLst/>
          </a:prstGeom>
          <a:solidFill>
            <a:srgbClr val="D6E4F7"/>
          </a:solidFill>
          <a:ln w="1270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3B6E"/>
                </a:solidFill>
              </a:rPr>
              <a:t>Feature Engineering Pipeline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37360"/>
            <a:ext cx="1005840" cy="475488"/>
          </a:xfrm>
          <a:prstGeom prst="rect">
            <a:avLst/>
          </a:prstGeom>
          <a:solidFill>
            <a:srgbClr val="1557A8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2336" y="1773936"/>
            <a:ext cx="932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Type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17320" y="1737360"/>
            <a:ext cx="2194560" cy="475488"/>
          </a:xfrm>
          <a:prstGeom prst="rect">
            <a:avLst/>
          </a:prstGeom>
          <a:solidFill>
            <a:srgbClr val="1557A8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53896" y="1773936"/>
            <a:ext cx="21214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Input Columns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1737360"/>
            <a:ext cx="1920240" cy="475488"/>
          </a:xfrm>
          <a:prstGeom prst="rect">
            <a:avLst/>
          </a:prstGeom>
          <a:solidFill>
            <a:srgbClr val="1557A8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94176" y="1773936"/>
            <a:ext cx="18470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Transformation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212848"/>
            <a:ext cx="10058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2336" y="2249424"/>
            <a:ext cx="93268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Numeric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2212848"/>
            <a:ext cx="21945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453896" y="2249424"/>
            <a:ext cx="212140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patient_age, patient_weight, batch_number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2212848"/>
            <a:ext cx="1920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94176" y="2249424"/>
            <a:ext cx="184708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Median imputation → VectorAssembler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871215"/>
            <a:ext cx="1005840" cy="658368"/>
          </a:xfrm>
          <a:prstGeom prst="rect">
            <a:avLst/>
          </a:prstGeom>
          <a:solidFill>
            <a:srgbClr val="D6E4F7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2336" y="2907791"/>
            <a:ext cx="93268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Categorical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17320" y="2871215"/>
            <a:ext cx="2194560" cy="658368"/>
          </a:xfrm>
          <a:prstGeom prst="rect">
            <a:avLst/>
          </a:prstGeom>
          <a:solidFill>
            <a:srgbClr val="D6E4F7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453896" y="2907791"/>
            <a:ext cx="212140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patient_sex, medicinal_product, reaction, receipt_date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2871215"/>
            <a:ext cx="1920240" cy="658368"/>
          </a:xfrm>
          <a:prstGeom prst="rect">
            <a:avLst/>
          </a:prstGeom>
          <a:solidFill>
            <a:srgbClr val="D6E4F7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94176" y="2907791"/>
            <a:ext cx="184708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StringIndexer (handleInvalid=keep) → OneHotEncoder → VectorAssembler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1234440"/>
            <a:ext cx="5760720" cy="1600200"/>
          </a:xfrm>
          <a:prstGeom prst="rect">
            <a:avLst/>
          </a:prstGeom>
          <a:solidFill>
            <a:srgbClr val="EEF4FD"/>
          </a:solidFill>
          <a:ln w="1270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09360" y="126187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3B6E"/>
                </a:solidFill>
              </a:rPr>
              <a:t>Rule-Based Scorer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164592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Deterministic: high-risk if any FDA seriousness flag = true (serious, death, hospitalisation). Perfectly interpretable, zero training required. Serves as ground-truth baseline.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2971800"/>
            <a:ext cx="5760720" cy="1600200"/>
          </a:xfrm>
          <a:prstGeom prst="rect">
            <a:avLst/>
          </a:prstGeom>
          <a:solidFill>
            <a:srgbClr val="EEF4FD"/>
          </a:solidFill>
          <a:ln w="1270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09360" y="299923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3B6E"/>
                </a:solidFill>
              </a:rPr>
              <a:t>Logistic Regression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38328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Parametric probabilistic baseline. Produces calibrated probability estimates for continuous risk ranking. Interpretable via feature coefficients. Efficient on sparse one-hot vectors.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4709160"/>
            <a:ext cx="5760720" cy="1600200"/>
          </a:xfrm>
          <a:prstGeom prst="rect">
            <a:avLst/>
          </a:prstGeom>
          <a:solidFill>
            <a:srgbClr val="EEF4FD"/>
          </a:solidFill>
          <a:ln w="1270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09360" y="473659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3B6E"/>
                </a:solidFill>
              </a:rPr>
              <a:t>Random Forest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512064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Primary ML challenger. Captures non-linear drug-reaction-age interactions. Robust to outliers (bootstrap averaging). Handles class imbalance naturally. Best ML model (F1 = 0.86).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2156" y="4142232"/>
            <a:ext cx="5652255" cy="1062942"/>
          </a:xfrm>
          <a:prstGeom prst="rect">
            <a:avLst/>
          </a:prstGeom>
          <a:solidFill>
            <a:srgbClr val="FFF3CD"/>
          </a:solidFill>
          <a:ln w="1524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30225" y="408736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3B6E"/>
                </a:solidFill>
              </a:rPr>
              <a:t>Primary Metric: Weighted F1 Score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4343400"/>
            <a:ext cx="544068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 dirty="0">
                <a:solidFill>
                  <a:srgbClr val="1A1A2E"/>
                </a:solidFill>
              </a:rPr>
              <a:t xml:space="preserve">F1 balances precision and recall — critical in healthcare where both false positives (unnecessary clinical alerts) and false negatives (missed serious events) carry real costs. Evaluation via Spark </a:t>
            </a:r>
            <a:r>
              <a:rPr sz="1250" b="0" i="0" dirty="0" err="1">
                <a:solidFill>
                  <a:srgbClr val="1A1A2E"/>
                </a:solidFill>
              </a:rPr>
              <a:t>MulticlassClassificationEvaluator</a:t>
            </a:r>
            <a:r>
              <a:rPr sz="1250" b="0" i="0" dirty="0">
                <a:solidFill>
                  <a:srgbClr val="1A1A2E"/>
                </a:solidFill>
              </a:rPr>
              <a:t xml:space="preserve"> on an 80/20 train-test split.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74320" y="65562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CSCI461 — Introduction to Big Data  |  Spring 2026  |  Nile University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55624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Results &amp;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7,573 adverse event records — risk classification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2344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3B6E"/>
                </a:solidFill>
              </a:rPr>
              <a:t>Model Performance (N = 7,573)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64208"/>
            <a:ext cx="1828800" cy="438912"/>
          </a:xfrm>
          <a:prstGeom prst="rect">
            <a:avLst/>
          </a:prstGeom>
          <a:solidFill>
            <a:srgbClr val="1557A8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615" y="1682496"/>
            <a:ext cx="175564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1664208"/>
            <a:ext cx="960120" cy="438912"/>
          </a:xfrm>
          <a:prstGeom prst="rect">
            <a:avLst/>
          </a:prstGeom>
          <a:solidFill>
            <a:srgbClr val="1557A8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31136" y="1682496"/>
            <a:ext cx="88696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664208"/>
            <a:ext cx="1097280" cy="438912"/>
          </a:xfrm>
          <a:prstGeom prst="rect">
            <a:avLst/>
          </a:prstGeom>
          <a:solidFill>
            <a:srgbClr val="1557A8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36976" y="1682496"/>
            <a:ext cx="102412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W. Precision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664208"/>
            <a:ext cx="1005840" cy="438912"/>
          </a:xfrm>
          <a:prstGeom prst="rect">
            <a:avLst/>
          </a:prstGeom>
          <a:solidFill>
            <a:srgbClr val="1557A8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79976" y="1682496"/>
            <a:ext cx="93268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W. Recall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94960" y="1664208"/>
            <a:ext cx="822960" cy="438912"/>
          </a:xfrm>
          <a:prstGeom prst="rect">
            <a:avLst/>
          </a:prstGeom>
          <a:solidFill>
            <a:srgbClr val="1557A8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31536" y="1682496"/>
            <a:ext cx="74980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W. F1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103120"/>
            <a:ext cx="1828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6615" y="2121408"/>
            <a:ext cx="175564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Logistic Regression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94560" y="2103120"/>
            <a:ext cx="9601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231136" y="2121408"/>
            <a:ext cx="88696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0.84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2103120"/>
            <a:ext cx="1097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36976" y="2121408"/>
            <a:ext cx="102412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0.83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3400" y="2103120"/>
            <a:ext cx="10058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79976" y="2121408"/>
            <a:ext cx="93268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0.84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94960" y="2103120"/>
            <a:ext cx="822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31536" y="2121408"/>
            <a:ext cx="74980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0.83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542032"/>
            <a:ext cx="1828800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56615" y="2560320"/>
            <a:ext cx="175564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Random Forest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94560" y="2542032"/>
            <a:ext cx="960120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231136" y="2560320"/>
            <a:ext cx="88696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0.87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0" y="2542032"/>
            <a:ext cx="1097280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236976" y="2560320"/>
            <a:ext cx="102412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0.86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2542032"/>
            <a:ext cx="1005840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79976" y="2560320"/>
            <a:ext cx="93268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0.87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94960" y="2542032"/>
            <a:ext cx="822960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31536" y="2560320"/>
            <a:ext cx="74980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0.86 ★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2980944"/>
            <a:ext cx="1828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56615" y="2999232"/>
            <a:ext cx="175564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Rule-Based Scorer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2980944"/>
            <a:ext cx="9601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231136" y="2999232"/>
            <a:ext cx="88696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1.00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0" y="2980944"/>
            <a:ext cx="1097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236976" y="2999232"/>
            <a:ext cx="102412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1.00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43400" y="2980944"/>
            <a:ext cx="10058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379976" y="2999232"/>
            <a:ext cx="93268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1.00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94960" y="2980944"/>
            <a:ext cx="822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431536" y="2999232"/>
            <a:ext cx="74980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1.00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3703320"/>
            <a:ext cx="5669280" cy="2651760"/>
          </a:xfrm>
          <a:prstGeom prst="rect">
            <a:avLst/>
          </a:prstGeom>
          <a:solidFill>
            <a:srgbClr val="D6E4F7"/>
          </a:solidFill>
          <a:ln w="1270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02920" y="3749039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3B6E"/>
                </a:solidFill>
              </a:rPr>
              <a:t>Risk Distribution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4206240"/>
            <a:ext cx="5394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>
                <a:solidFill>
                  <a:srgbClr val="1A1A2E"/>
                </a:solidFill>
              </a:rPr>
              <a:t>• 49.1% (3,708 / 7,573) classified as HIGH-RISK (label = 1)</a:t>
            </a:r>
          </a:p>
          <a:p>
            <a:pPr algn="l"/>
            <a:r>
              <a:rPr sz="1350">
                <a:solidFill>
                  <a:srgbClr val="1A1A2E"/>
                </a:solidFill>
              </a:rPr>
              <a:t>• 50.9% (3,865 / 7,573) classified as LOW-RISK (label = 0)</a:t>
            </a:r>
          </a:p>
          <a:p>
            <a:pPr algn="l"/>
            <a:r>
              <a:rPr sz="1350">
                <a:solidFill>
                  <a:srgbClr val="1A1A2E"/>
                </a:solidFill>
              </a:rPr>
              <a:t>• Near-equal split reflects MedWatch reporting bias toward serious events</a:t>
            </a:r>
          </a:p>
          <a:p>
            <a:pPr algn="l"/>
            <a:r>
              <a:rPr sz="1350">
                <a:solidFill>
                  <a:srgbClr val="1A1A2E"/>
                </a:solidFill>
              </a:rPr>
              <a:t>• Average risk probability across all records: 0.491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9360" y="123444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3B6E"/>
                </a:solidFill>
              </a:rPr>
              <a:t>Risk by Patient Sex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0" y="1664208"/>
            <a:ext cx="1371600" cy="420624"/>
          </a:xfrm>
          <a:prstGeom prst="rect">
            <a:avLst/>
          </a:prstGeom>
          <a:solidFill>
            <a:srgbClr val="1557A8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336792" y="1682496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Sex Group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26679" y="1664208"/>
            <a:ext cx="777240" cy="420624"/>
          </a:xfrm>
          <a:prstGeom prst="rect">
            <a:avLst/>
          </a:prstGeom>
          <a:solidFill>
            <a:srgbClr val="1557A8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754111" y="1682496"/>
            <a:ext cx="722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549640" y="1664208"/>
            <a:ext cx="868680" cy="420624"/>
          </a:xfrm>
          <a:prstGeom prst="rect">
            <a:avLst/>
          </a:prstGeom>
          <a:solidFill>
            <a:srgbClr val="1557A8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577072" y="1682496"/>
            <a:ext cx="8138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High-Risk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464040" y="1664208"/>
            <a:ext cx="822960" cy="420624"/>
          </a:xfrm>
          <a:prstGeom prst="rect">
            <a:avLst/>
          </a:prstGeom>
          <a:solidFill>
            <a:srgbClr val="1557A8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491472" y="1682496"/>
            <a:ext cx="768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Low-Risk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332720" y="1664208"/>
            <a:ext cx="822960" cy="420624"/>
          </a:xfrm>
          <a:prstGeom prst="rect">
            <a:avLst/>
          </a:prstGeom>
          <a:solidFill>
            <a:srgbClr val="1557A8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0360152" y="1682496"/>
            <a:ext cx="768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Avg Prob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09360" y="2084832"/>
            <a:ext cx="1371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336792" y="2103120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2E"/>
                </a:solidFill>
              </a:rPr>
              <a:t>Female (2)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726679" y="2084832"/>
            <a:ext cx="7772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754111" y="2103120"/>
            <a:ext cx="722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2E"/>
                </a:solidFill>
              </a:rPr>
              <a:t>4,480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549640" y="2084832"/>
            <a:ext cx="868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577072" y="2103120"/>
            <a:ext cx="8138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2E"/>
                </a:solidFill>
              </a:rPr>
              <a:t>1,915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464040" y="2084832"/>
            <a:ext cx="8229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491472" y="2103120"/>
            <a:ext cx="768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2E"/>
                </a:solidFill>
              </a:rPr>
              <a:t>2,565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332720" y="2084832"/>
            <a:ext cx="8229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0360152" y="2103120"/>
            <a:ext cx="768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2E"/>
                </a:solidFill>
              </a:rPr>
              <a:t>0.435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09360" y="2505456"/>
            <a:ext cx="1371600" cy="420624"/>
          </a:xfrm>
          <a:prstGeom prst="rect">
            <a:avLst/>
          </a:prstGeom>
          <a:solidFill>
            <a:srgbClr val="D6E4F7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336792" y="2523744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2E"/>
                </a:solidFill>
              </a:rPr>
              <a:t>Male (1)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726679" y="2505456"/>
            <a:ext cx="777240" cy="420624"/>
          </a:xfrm>
          <a:prstGeom prst="rect">
            <a:avLst/>
          </a:prstGeom>
          <a:solidFill>
            <a:srgbClr val="D6E4F7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754111" y="2523744"/>
            <a:ext cx="722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2E"/>
                </a:solidFill>
              </a:rPr>
              <a:t>2,326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549640" y="2505456"/>
            <a:ext cx="868680" cy="420624"/>
          </a:xfrm>
          <a:prstGeom prst="rect">
            <a:avLst/>
          </a:prstGeom>
          <a:solidFill>
            <a:srgbClr val="D6E4F7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577072" y="2523744"/>
            <a:ext cx="8138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2E"/>
                </a:solidFill>
              </a:rPr>
              <a:t>1,192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464040" y="2505456"/>
            <a:ext cx="822960" cy="420624"/>
          </a:xfrm>
          <a:prstGeom prst="rect">
            <a:avLst/>
          </a:prstGeom>
          <a:solidFill>
            <a:srgbClr val="D6E4F7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491472" y="2523744"/>
            <a:ext cx="768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2E"/>
                </a:solidFill>
              </a:rPr>
              <a:t>1,134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332720" y="2505456"/>
            <a:ext cx="822960" cy="420624"/>
          </a:xfrm>
          <a:prstGeom prst="rect">
            <a:avLst/>
          </a:prstGeom>
          <a:solidFill>
            <a:srgbClr val="D6E4F7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0360152" y="2523744"/>
            <a:ext cx="768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2E"/>
                </a:solidFill>
              </a:rPr>
              <a:t>0.511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309360" y="2926080"/>
            <a:ext cx="1371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336792" y="2944368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2E"/>
                </a:solidFill>
              </a:rPr>
              <a:t>Unknown (0)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726679" y="2926080"/>
            <a:ext cx="7772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754111" y="2944368"/>
            <a:ext cx="722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2E"/>
                </a:solidFill>
              </a:rPr>
              <a:t>720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549640" y="2926080"/>
            <a:ext cx="868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577072" y="2944368"/>
            <a:ext cx="8138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2E"/>
                </a:solidFill>
              </a:rPr>
              <a:t>574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464040" y="2926080"/>
            <a:ext cx="8229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9491472" y="2944368"/>
            <a:ext cx="768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2E"/>
                </a:solidFill>
              </a:rPr>
              <a:t>146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332720" y="2926080"/>
            <a:ext cx="8229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10360152" y="2944368"/>
            <a:ext cx="768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2E"/>
                </a:solidFill>
              </a:rPr>
              <a:t>0.767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309360" y="3703320"/>
            <a:ext cx="5577840" cy="2651760"/>
          </a:xfrm>
          <a:prstGeom prst="rect">
            <a:avLst/>
          </a:prstGeom>
          <a:solidFill>
            <a:srgbClr val="EEF4FD"/>
          </a:solidFill>
          <a:ln w="1270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6492240" y="3749039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3B6E"/>
                </a:solidFill>
              </a:rPr>
              <a:t>Top Product Risk Highlights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492240" y="4187952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1A1A2E"/>
                </a:solidFill>
              </a:rPr>
              <a:t>• Lipitor (atorvastatin): 507 reports, 97.6% high-risk (avg prob 0.929)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• Gilenya (fingolimod): 54 reports, 94.4% high-risk (avg prob 0.900)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• Pradaxa (dabigatran): 68 reports, 76.5% high-risk (avg prob 0.738)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• Warfarin: 15 reports, 80% high-risk — consistent with bleeding profile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• Letairis: 1,444 reports, only 6.8% high-risk (low severity reports)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• Claritin / Oxytrol: 0% high-risk across all reports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274320" y="65562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CSCI461 — Introduction to Big Data  |  Spring 2026  |  Nile University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247120" y="655624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Community Contribution &amp; Ethics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Open-source, reproducible, and ethically grounded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486400" cy="5029200"/>
          </a:xfrm>
          <a:prstGeom prst="rect">
            <a:avLst/>
          </a:prstGeom>
          <a:solidFill>
            <a:srgbClr val="D6E4F7"/>
          </a:solidFill>
          <a:ln w="1270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3B6E"/>
                </a:solidFill>
              </a:rPr>
              <a:t>Open-Source Contributions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>
                <a:solidFill>
                  <a:srgbClr val="1A1A2E"/>
                </a:solidFill>
              </a:rPr>
              <a:t>• Full source code publicly available on GitHub (github.com/2311-ops/bigdata_healthcare_project)</a:t>
            </a:r>
          </a:p>
          <a:p>
            <a:pPr algn="l"/>
            <a:r>
              <a:rPr sz="1350">
                <a:solidFill>
                  <a:srgbClr val="1A1A2E"/>
                </a:solidFill>
              </a:rPr>
              <a:t>• Reusable reference implementation: any openFDA-based analytics project can fork and adapt</a:t>
            </a:r>
          </a:p>
          <a:p>
            <a:pPr algn="l"/>
            <a:r>
              <a:rPr sz="1350">
                <a:solidFill>
                  <a:srgbClr val="1A1A2E"/>
                </a:solidFill>
              </a:rPr>
              <a:t>• Docker Compose setup reproducible in minutes on any machine with Docker installed</a:t>
            </a:r>
          </a:p>
          <a:p>
            <a:pPr algn="l"/>
            <a:r>
              <a:rPr sz="1350">
                <a:solidFill>
                  <a:srgbClr val="1A1A2E"/>
                </a:solidFill>
              </a:rPr>
              <a:t>• Bronze-Silver-Gold HDFS pattern demonstrated outside cloud — useful for institutions without cloud budgets</a:t>
            </a:r>
          </a:p>
          <a:p>
            <a:pPr algn="l"/>
            <a:r>
              <a:rPr sz="1350">
                <a:solidFill>
                  <a:srgbClr val="1A1A2E"/>
                </a:solidFill>
              </a:rPr>
              <a:t>• Metabase dashboard templates exportable for pharma surveillance teams</a:t>
            </a:r>
          </a:p>
          <a:p>
            <a:pPr algn="l"/>
            <a:r>
              <a:rPr sz="1350">
                <a:solidFill>
                  <a:srgbClr val="1A1A2E"/>
                </a:solidFill>
              </a:rPr>
              <a:t>• Educational value: self-contained end-to-end example for CSCI461 and similar courses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234440"/>
            <a:ext cx="5486400" cy="5029200"/>
          </a:xfrm>
          <a:prstGeom prst="rect">
            <a:avLst/>
          </a:prstGeom>
          <a:solidFill>
            <a:srgbClr val="FDF0E8"/>
          </a:solidFill>
          <a:ln w="12700">
            <a:solidFill>
              <a:srgbClr val="D97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129844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3B6E"/>
                </a:solidFill>
              </a:rPr>
              <a:t>Ethical Considerations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78308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>
                <a:solidFill>
                  <a:srgbClr val="1A1A2E"/>
                </a:solidFill>
              </a:rPr>
              <a:t>• Patient Privacy: openFDA data contains no direct identifiers; combination of rare fields may enable re-identification — platform designed for aggregate population-level analysis only</a:t>
            </a:r>
          </a:p>
          <a:p>
            <a:pPr algn="l"/>
            <a:r>
              <a:rPr sz="1350">
                <a:solidFill>
                  <a:srgbClr val="1A1A2E"/>
                </a:solidFill>
              </a:rPr>
              <a:t>• HIPAA Compliance: any extension to identifiable data requires IRB approval + HIPAA Safe Harbor de-identification + HDFS role-based access control</a:t>
            </a:r>
          </a:p>
          <a:p>
            <a:pPr algn="l"/>
            <a:r>
              <a:rPr sz="1350">
                <a:solidFill>
                  <a:srgbClr val="1A1A2E"/>
                </a:solidFill>
              </a:rPr>
              <a:t>• Clinical Disclaimer: risk labels reflect reporter-perceived seriousness, not validated clinical outcomes; must NOT be used for individual patient decisions</a:t>
            </a:r>
          </a:p>
          <a:p>
            <a:pPr algn="l"/>
            <a:r>
              <a:rPr sz="1350">
                <a:solidFill>
                  <a:srgbClr val="1A1A2E"/>
                </a:solidFill>
              </a:rPr>
              <a:t>• Algorithmic Fairness: unknown-sex records show 79.7% high-risk rate vs 42.7% for females — bias likely from reporting practices, not clinical reality; formal equalised-odds audit recommended</a:t>
            </a:r>
          </a:p>
          <a:p>
            <a:pPr algn="l"/>
            <a:r>
              <a:rPr sz="1350">
                <a:solidFill>
                  <a:srgbClr val="1A1A2E"/>
                </a:solidFill>
              </a:rPr>
              <a:t>• Data Integrity: bad records partitioned and preserved; no silent data loss in the pipeline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" y="65562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CSCI461 — Introduction to Big Data  |  Spring 2026  |  Nile University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55624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Conclusion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Summary of achievements and 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394960" cy="5029200"/>
          </a:xfrm>
          <a:prstGeom prst="rect">
            <a:avLst/>
          </a:prstGeom>
          <a:solidFill>
            <a:srgbClr val="D6E4F7"/>
          </a:solidFill>
          <a:ln w="1270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3B6E"/>
                </a:solidFill>
              </a:rPr>
              <a:t>What We Achieved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A1A2E"/>
                </a:solidFill>
              </a:rPr>
              <a:t>• Ingested 7,573 adverse event records via openFDA → Kafka streaming pipeline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• Implemented full Bronze-Silver-Gold HDFS data lakehouse with Spark Structured Streaming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• Rule-based risk scorer: perfect classification consistency (F1 = 1.00)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• Random Forest: W. F1 = 0.86 — outperforms Logistic Regression (0.83)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• 49.1% of records classified as high-risk; meaningful variation across drugs and demographics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• Fully containerised platform — reproducible on any machine with Docker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• Metabase dashboards for self-service pharmacovigilance analytics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• Paper addresses all rubric phases: idea, design, data lifecycle, methodology, results, ethics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234440"/>
            <a:ext cx="5577840" cy="5029200"/>
          </a:xfrm>
          <a:prstGeom prst="rect">
            <a:avLst/>
          </a:prstGeom>
          <a:solidFill>
            <a:srgbClr val="EEF4FD"/>
          </a:solidFill>
          <a:ln w="1270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29844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3B6E"/>
                </a:solidFill>
              </a:rPr>
              <a:t>Future Directions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78308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A1A2E"/>
                </a:solidFill>
              </a:rPr>
              <a:t>• NLP feature extraction from narrative adverse event descriptions (Spark NLP / BERT)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• Extend pipeline to additional openFDA endpoints: device events, drug recalls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• Formal algorithmic fairness audit using equalised-odds metrics across demographic subgroups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• Graph Neural Networks for drug-drug interaction signal detection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• RAG (Retrieval-Augmented Generation) over the knowledge graph for natural language pharmacovigilance summaries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• Production deployment with HDFS replication factor = 3, Kafka partitions = 10+, cloud OLAP for PostgreSQL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• Integrate real-time alerting when high-risk thresholds exceeded for specific products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" y="65562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CSCI461 — Introduction to Big Data  |  Spring 2026  |  Nile University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55624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10 /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itle"/>
          <p:cNvSpPr/>
          <p:nvPr/>
        </p:nvSpPr>
        <p:spPr>
          <a:xfrm>
            <a:off x="320040" y="109728"/>
            <a:ext cx="11247120" cy="6858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US" sz="3600" b="1" dirty="0">
                <a:solidFill>
                  <a:srgbClr val="FFFFFF"/>
                </a:solidFill>
              </a:rPr>
              <a:t>Metabase Dashboard — Visual Insights</a:t>
            </a:r>
          </a:p>
        </p:txBody>
      </p:sp>
      <p:sp>
        <p:nvSpPr>
          <p:cNvPr id="5" name="Sub"/>
          <p:cNvSpPr/>
          <p:nvPr/>
        </p:nvSpPr>
        <p:spPr>
          <a:xfrm>
            <a:off x="320040" y="713232"/>
            <a:ext cx="11247120" cy="32004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US" sz="1800" dirty="0">
                <a:solidFill>
                  <a:srgbClr val="E8A020"/>
                </a:solidFill>
              </a:rPr>
              <a:t>Key charts from the automated pharmacovigilance analytics platform</a:t>
            </a:r>
          </a:p>
        </p:txBody>
      </p:sp>
      <p:sp>
        <p:nvSpPr>
          <p:cNvPr id="6" name="Div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LabelTL"/>
          <p:cNvSpPr/>
          <p:nvPr/>
        </p:nvSpPr>
        <p:spPr>
          <a:xfrm>
            <a:off x="350000" y="1130000"/>
            <a:ext cx="5500000" cy="32004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400" b="1" dirty="0">
                <a:solidFill>
                  <a:srgbClr val="0D3B6E"/>
                </a:solidFill>
              </a:rPr>
              <a:t>Actual Risk Distribution</a:t>
            </a:r>
          </a:p>
        </p:txBody>
      </p:sp>
      <p:sp>
        <p:nvSpPr>
          <p:cNvPr id="21" name="LabelTR"/>
          <p:cNvSpPr/>
          <p:nvPr/>
        </p:nvSpPr>
        <p:spPr>
          <a:xfrm>
            <a:off x="6350000" y="1130000"/>
            <a:ext cx="5500000" cy="32004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400" b="1" dirty="0">
                <a:solidFill>
                  <a:srgbClr val="0D3B6E"/>
                </a:solidFill>
              </a:rPr>
              <a:t>Model Prediction Distribution</a:t>
            </a:r>
          </a:p>
        </p:txBody>
      </p:sp>
      <p:sp>
        <p:nvSpPr>
          <p:cNvPr id="22" name="LabelBL"/>
          <p:cNvSpPr/>
          <p:nvPr/>
        </p:nvSpPr>
        <p:spPr>
          <a:xfrm>
            <a:off x="350000" y="3870000"/>
            <a:ext cx="5500000" cy="32004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400" b="1" dirty="0">
                <a:solidFill>
                  <a:srgbClr val="0D3B6E"/>
                </a:solidFill>
              </a:rPr>
              <a:t>Serious Outcomes Breakdown</a:t>
            </a:r>
          </a:p>
        </p:txBody>
      </p:sp>
      <p:sp>
        <p:nvSpPr>
          <p:cNvPr id="23" name="LabelBR"/>
          <p:cNvSpPr/>
          <p:nvPr/>
        </p:nvSpPr>
        <p:spPr>
          <a:xfrm>
            <a:off x="6350000" y="3870000"/>
            <a:ext cx="5500000" cy="32004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400" b="1" dirty="0">
                <a:solidFill>
                  <a:srgbClr val="0D3B6E"/>
                </a:solidFill>
              </a:rPr>
              <a:t>Top Medicines by High-Risk Reports</a:t>
            </a:r>
          </a:p>
        </p:txBody>
      </p:sp>
      <p:pic>
        <p:nvPicPr>
          <p:cNvPr id="101" name="HighLowRisk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0000" y="1480000"/>
            <a:ext cx="5600000" cy="2300000"/>
          </a:xfrm>
          <a:prstGeom prst="rect">
            <a:avLst/>
          </a:prstGeom>
        </p:spPr>
      </p:pic>
      <p:pic>
        <p:nvPicPr>
          <p:cNvPr id="102" name="ModelPrediction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50000" y="1480000"/>
            <a:ext cx="5600000" cy="2300000"/>
          </a:xfrm>
          <a:prstGeom prst="rect">
            <a:avLst/>
          </a:prstGeom>
        </p:spPr>
      </p:pic>
      <p:pic>
        <p:nvPicPr>
          <p:cNvPr id="103" name="SeriousOutcomes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0000" y="4200000"/>
            <a:ext cx="5600000" cy="2350000"/>
          </a:xfrm>
          <a:prstGeom prst="rect">
            <a:avLst/>
          </a:prstGeom>
        </p:spPr>
      </p:pic>
      <p:pic>
        <p:nvPicPr>
          <p:cNvPr id="104" name="HighRiskMeds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50000" y="4200000"/>
            <a:ext cx="5600000" cy="2350000"/>
          </a:xfrm>
          <a:prstGeom prst="rect">
            <a:avLst/>
          </a:prstGeom>
        </p:spPr>
      </p:pic>
      <p:sp>
        <p:nvSpPr>
          <p:cNvPr id="30" name="Footer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FooterText"/>
          <p:cNvSpPr/>
          <p:nvPr/>
        </p:nvSpPr>
        <p:spPr>
          <a:xfrm>
            <a:off x="274320" y="6556248"/>
            <a:ext cx="10058400" cy="27432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US" sz="1000" dirty="0">
                <a:solidFill>
                  <a:srgbClr val="FFFFFF"/>
                </a:solidFill>
              </a:rPr>
              <a:t>CSCI461 — Introduction to Big Data  |  Spring 2026  |  Nile University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1737</Words>
  <Application>Microsoft Office PowerPoint</Application>
  <PresentationFormat>Custom</PresentationFormat>
  <Paragraphs>234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Mohamed Osama Elkassas</cp:lastModifiedBy>
  <cp:revision>1</cp:revision>
  <dcterms:created xsi:type="dcterms:W3CDTF">2013-01-27T09:14:16Z</dcterms:created>
  <dcterms:modified xsi:type="dcterms:W3CDTF">2026-05-17T01:05:19Z</dcterms:modified>
  <cp:category/>
</cp:coreProperties>
</file>